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8" r:id="rId9"/>
    <p:sldId id="272" r:id="rId10"/>
    <p:sldId id="269" r:id="rId11"/>
    <p:sldId id="270" r:id="rId12"/>
    <p:sldId id="271" r:id="rId13"/>
    <p:sldId id="266" r:id="rId14"/>
    <p:sldId id="27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27BF4-25E8-F183-F86C-DAFFD7106B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155CB1-FD01-F533-7361-84C7410BAD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9460E-B885-6A23-F940-D7ED4F6E4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CCB8D-D030-4DC6-89FD-4BFE14E8AEEA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CC7BC9-41EF-BDA0-31A8-E2C975262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E0DD9-2484-C1E0-278E-81B9F2BA5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72352-F037-4882-9AD8-DD4ECF2358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971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A7A71-E58B-CA2D-A013-1C8CAAE02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CFA5A-89E2-D3D4-1C5D-19B789815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7E31E-3349-1818-D446-CC818443B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CCB8D-D030-4DC6-89FD-4BFE14E8AEEA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77061-255D-E1C1-0930-F80536E25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DA5D9-4738-14FA-E592-0F9AC9140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72352-F037-4882-9AD8-DD4ECF2358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264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3EA9A-D4E1-0541-E999-637302979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FFCE31-C129-493E-166A-089A0657E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471DE-41F2-EE5E-CC9B-FA758533F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CCB8D-D030-4DC6-89FD-4BFE14E8AEEA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0825A-F9C1-F876-9830-B4272E423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AE04BE-3232-6FE1-0F21-D2630D7F1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72352-F037-4882-9AD8-DD4ECF2358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6699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EF58E-8317-BDEA-073F-5EE2B6E5B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0FD9B-DA10-7B35-4176-71FC898EE5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A1F915-F2C9-DCFB-2B07-BC96762F61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AC84DC-77AF-4CC6-5128-49DF5EF77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CCB8D-D030-4DC6-89FD-4BFE14E8AEEA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787B4-BEB5-F1D0-863C-82B0EE423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3DE23A-6F32-D5EB-437B-541627D37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72352-F037-4882-9AD8-DD4ECF2358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7670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FB6D7-E479-C013-9EB8-BDF3EB939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A36AEE-EE6D-9B80-8DED-E2414CDAF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4E0CC7-FFE4-1277-9C77-DC7193C649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0F1BA2-C033-F809-A4DF-616389EA8D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CC3564-CAE3-18FE-7FF3-5E59B7F8EE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D32AC8-0CFC-B9B4-4B19-CEAE31CC8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CCB8D-D030-4DC6-89FD-4BFE14E8AEEA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028B20-8865-C4DA-9C6D-38978D578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548C20-8086-E7C2-E977-EC816484B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72352-F037-4882-9AD8-DD4ECF2358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5849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18E9B-8E89-10E1-D728-DF03F17ED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2F83EE-3278-82BA-7770-9A2A4AA04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CCB8D-D030-4DC6-89FD-4BFE14E8AEEA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70010F-D1D5-DF7C-7434-912A05082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9A7C0-EF79-124A-22A4-DA1BAD347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72352-F037-4882-9AD8-DD4ECF2358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5881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63303A-EBC3-482D-6A20-83A7EF04B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CCB8D-D030-4DC6-89FD-4BFE14E8AEEA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A942C8-A14D-109E-63B0-A10C547EC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69B577-D14C-DC27-6473-1DB92B7F6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72352-F037-4882-9AD8-DD4ECF2358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5360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FC154-AB18-3290-385E-E55EABEEB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D521A-AE61-B2E0-EB09-9207DC4EA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2AD100-27DF-A0F6-0903-5E4A71E742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BB015D-C4DA-6F46-03C4-6355255BC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CCB8D-D030-4DC6-89FD-4BFE14E8AEEA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323A85-F39B-8B7A-FC10-A76286276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05AF77-3A02-3E5E-3DA1-843BE688A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72352-F037-4882-9AD8-DD4ECF2358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5376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76177-8CF7-50AD-FB7F-9CC73B3D8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DEFD8F-4D48-9D70-B70E-C58F6FCE03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ADE0B0-F711-6BF5-9097-B0E432A961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A6C5CB-86E2-08BA-EAD2-00BEBD87E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CCB8D-D030-4DC6-89FD-4BFE14E8AEEA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243BCC-9C5A-DDBB-A4FC-E87501635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91DABA-A864-F567-25F0-C28D97B73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72352-F037-4882-9AD8-DD4ECF2358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0255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8DC45-86AA-4A02-7E4B-F85EE0B43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DF859A-E2A7-44B7-FE1E-D99A497EBC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CEE0F-7B1B-D86A-A789-85EDAC529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CCB8D-D030-4DC6-89FD-4BFE14E8AEEA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1B113-F1E8-66DE-B175-D4837301A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F6615-F205-ABB7-3F22-0784B77A3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72352-F037-4882-9AD8-DD4ECF2358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1548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A700A3-BAD7-638B-EBE7-CF1208510D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E6046E-0839-9AD7-C5A0-0A3AF60105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15D0E5-FC86-EC14-F893-D5D9C059B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CCB8D-D030-4DC6-89FD-4BFE14E8AEEA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74A51-D4F7-165A-441A-0FD7D6177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E6A2C0-3057-3491-34E6-3391C4009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72352-F037-4882-9AD8-DD4ECF2358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7932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67FCDB-D1BA-97E4-1FEA-7A64BC97B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ECDAB0-7A9A-EAB9-A4B5-1C8B371A4E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82B84-E3B6-C5E1-BEA2-29CCFCEF95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8CCB8D-D030-4DC6-89FD-4BFE14E8AEEA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C6094-4C27-29E3-38F0-5C41ECA138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54797-1D72-5E45-A0EF-241236EC4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E72352-F037-4882-9AD8-DD4ECF2358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0651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B4451-704D-C28B-FB33-F0CD4628CB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Number 3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48412E-D133-5F9F-DF3E-FB424406F2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DEG</a:t>
            </a:r>
            <a:endParaRPr lang="en-IN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3535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DAC74AA-1961-03BF-5326-77FA95218589}"/>
              </a:ext>
            </a:extLst>
          </p:cNvPr>
          <p:cNvSpPr txBox="1"/>
          <p:nvPr/>
        </p:nvSpPr>
        <p:spPr>
          <a:xfrm>
            <a:off x="2678839" y="1160206"/>
            <a:ext cx="23400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Prithvi AJ</a:t>
            </a:r>
          </a:p>
          <a:p>
            <a:r>
              <a:rPr lang="en-US" dirty="0"/>
              <a:t>3027871</a:t>
            </a:r>
          </a:p>
          <a:p>
            <a:r>
              <a:rPr lang="en-US" dirty="0"/>
              <a:t>Contributions:</a:t>
            </a:r>
          </a:p>
          <a:p>
            <a:r>
              <a:rPr lang="en-US" dirty="0"/>
              <a:t>*Analytical Workflow</a:t>
            </a:r>
          </a:p>
          <a:p>
            <a:r>
              <a:rPr lang="en-US" dirty="0"/>
              <a:t>*PCA</a:t>
            </a:r>
          </a:p>
          <a:p>
            <a:r>
              <a:rPr lang="en-US" dirty="0"/>
              <a:t>*KEGG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F7D40B-43F2-137B-E1E8-4F4634C4E8FA}"/>
              </a:ext>
            </a:extLst>
          </p:cNvPr>
          <p:cNvSpPr txBox="1"/>
          <p:nvPr/>
        </p:nvSpPr>
        <p:spPr>
          <a:xfrm>
            <a:off x="8672052" y="1160206"/>
            <a:ext cx="207460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Prince Gabriel</a:t>
            </a:r>
          </a:p>
          <a:p>
            <a:r>
              <a:rPr lang="en-US" dirty="0"/>
              <a:t>3055510</a:t>
            </a:r>
          </a:p>
          <a:p>
            <a:r>
              <a:rPr lang="en-US" dirty="0"/>
              <a:t>Contributions:</a:t>
            </a:r>
          </a:p>
          <a:p>
            <a:r>
              <a:rPr lang="en-US" dirty="0"/>
              <a:t>*Heat Map </a:t>
            </a:r>
          </a:p>
          <a:p>
            <a:r>
              <a:rPr lang="en-US" dirty="0"/>
              <a:t>*Volcano Map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DF85BC-7D3F-DE38-5541-9D381788F7BB}"/>
              </a:ext>
            </a:extLst>
          </p:cNvPr>
          <p:cNvSpPr txBox="1"/>
          <p:nvPr/>
        </p:nvSpPr>
        <p:spPr>
          <a:xfrm>
            <a:off x="2678839" y="3942735"/>
            <a:ext cx="234007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Asha Avanigadda</a:t>
            </a:r>
          </a:p>
          <a:p>
            <a:r>
              <a:rPr lang="en-US" dirty="0"/>
              <a:t>307052</a:t>
            </a:r>
          </a:p>
          <a:p>
            <a:r>
              <a:rPr lang="en-US" dirty="0"/>
              <a:t>Contributions:</a:t>
            </a:r>
          </a:p>
          <a:p>
            <a:r>
              <a:rPr lang="en-US" dirty="0"/>
              <a:t>*Reactome</a:t>
            </a:r>
          </a:p>
          <a:p>
            <a:r>
              <a:rPr lang="en-US" dirty="0"/>
              <a:t>*PPT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DCE403D-CC0E-5050-C6AE-F7F3793AF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180" y="1160206"/>
            <a:ext cx="1929835" cy="20018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1D96594-8E8E-D287-8342-12A8547125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8787" y="1078963"/>
            <a:ext cx="1765232" cy="208308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602D45D-2825-AC00-A2EC-88B032FE8E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180" y="3764777"/>
            <a:ext cx="1959530" cy="2278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846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CC66F834-40E4-8E21-FC13-5B090A35D540}"/>
              </a:ext>
            </a:extLst>
          </p:cNvPr>
          <p:cNvSpPr/>
          <p:nvPr/>
        </p:nvSpPr>
        <p:spPr>
          <a:xfrm>
            <a:off x="962222" y="1490006"/>
            <a:ext cx="2684207" cy="2694038"/>
          </a:xfrm>
          <a:prstGeom prst="flowChartConnector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B5C49AAF-6251-E198-5173-7CDABB42B971}"/>
              </a:ext>
            </a:extLst>
          </p:cNvPr>
          <p:cNvSpPr/>
          <p:nvPr/>
        </p:nvSpPr>
        <p:spPr>
          <a:xfrm>
            <a:off x="2669866" y="3350034"/>
            <a:ext cx="2684207" cy="2694038"/>
          </a:xfrm>
          <a:prstGeom prst="flowChartConnector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39016B45-1545-F271-AA57-F26A01E18A0C}"/>
              </a:ext>
            </a:extLst>
          </p:cNvPr>
          <p:cNvSpPr/>
          <p:nvPr/>
        </p:nvSpPr>
        <p:spPr>
          <a:xfrm>
            <a:off x="4484647" y="1558959"/>
            <a:ext cx="2684207" cy="2694038"/>
          </a:xfrm>
          <a:prstGeom prst="flowChartConnector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791BD878-0D09-5C6C-65E2-7B2A67541766}"/>
              </a:ext>
            </a:extLst>
          </p:cNvPr>
          <p:cNvSpPr/>
          <p:nvPr/>
        </p:nvSpPr>
        <p:spPr>
          <a:xfrm>
            <a:off x="6223499" y="3317694"/>
            <a:ext cx="2684207" cy="2694038"/>
          </a:xfrm>
          <a:prstGeom prst="flowChartConnector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7FC8A03A-0190-38E1-33D6-4ED4D2102C92}"/>
              </a:ext>
            </a:extLst>
          </p:cNvPr>
          <p:cNvSpPr/>
          <p:nvPr/>
        </p:nvSpPr>
        <p:spPr>
          <a:xfrm>
            <a:off x="8199814" y="1724651"/>
            <a:ext cx="2684207" cy="2694038"/>
          </a:xfrm>
          <a:prstGeom prst="flowChartConnector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41CF0D-432F-B3CF-4946-4525058B3D93}"/>
              </a:ext>
            </a:extLst>
          </p:cNvPr>
          <p:cNvSpPr txBox="1"/>
          <p:nvPr/>
        </p:nvSpPr>
        <p:spPr>
          <a:xfrm>
            <a:off x="1582191" y="2551181"/>
            <a:ext cx="16135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Read RNA-</a:t>
            </a:r>
            <a:r>
              <a:rPr lang="en-IN" dirty="0" err="1"/>
              <a:t>seq</a:t>
            </a:r>
            <a:r>
              <a:rPr lang="en-IN" dirty="0"/>
              <a:t> Data (FPKM)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73A1AE-57FC-EB09-24A7-A9F293E2DABA}"/>
              </a:ext>
            </a:extLst>
          </p:cNvPr>
          <p:cNvSpPr txBox="1"/>
          <p:nvPr/>
        </p:nvSpPr>
        <p:spPr>
          <a:xfrm>
            <a:off x="3105290" y="4133055"/>
            <a:ext cx="19517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Data Preprocessing (QC, normalization, log transform.)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176C78-ED91-729B-FA9C-9F1F0248FECA}"/>
              </a:ext>
            </a:extLst>
          </p:cNvPr>
          <p:cNvSpPr txBox="1"/>
          <p:nvPr/>
        </p:nvSpPr>
        <p:spPr>
          <a:xfrm>
            <a:off x="4974243" y="2465803"/>
            <a:ext cx="18091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Differential Gene Expression Analysis(Limma)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1ABAC2-3166-57A3-7C42-C0A7FDA98B65}"/>
              </a:ext>
            </a:extLst>
          </p:cNvPr>
          <p:cNvSpPr txBox="1"/>
          <p:nvPr/>
        </p:nvSpPr>
        <p:spPr>
          <a:xfrm>
            <a:off x="6746828" y="4096889"/>
            <a:ext cx="17025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Significant DEGs identification (adj.P.Val&lt;0.05, [logFC) &gt; 1)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E33714-A314-B5F6-710C-7491D4A9A03A}"/>
              </a:ext>
            </a:extLst>
          </p:cNvPr>
          <p:cNvSpPr txBox="1"/>
          <p:nvPr/>
        </p:nvSpPr>
        <p:spPr>
          <a:xfrm>
            <a:off x="8907706" y="2471505"/>
            <a:ext cx="16521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Pathway Enrichment Analysis (KEGG &amp; Reactome)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8ED8CC-9925-6298-9665-0613A3BC2546}"/>
              </a:ext>
            </a:extLst>
          </p:cNvPr>
          <p:cNvSpPr txBox="1"/>
          <p:nvPr/>
        </p:nvSpPr>
        <p:spPr>
          <a:xfrm>
            <a:off x="2939606" y="208128"/>
            <a:ext cx="61156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/>
              <a:t>      </a:t>
            </a:r>
            <a:r>
              <a:rPr lang="en-US" sz="4000" b="1" i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Analytical Workflow</a:t>
            </a:r>
            <a:endParaRPr lang="en-US" sz="4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9541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070301-191E-C777-90D9-CD6D547749EA}"/>
              </a:ext>
            </a:extLst>
          </p:cNvPr>
          <p:cNvSpPr txBox="1"/>
          <p:nvPr/>
        </p:nvSpPr>
        <p:spPr>
          <a:xfrm>
            <a:off x="1238866" y="314632"/>
            <a:ext cx="8711380" cy="7602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                         </a:t>
            </a:r>
            <a:r>
              <a:rPr lang="en-US" sz="4000" b="1" i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PCA Analysis</a:t>
            </a:r>
          </a:p>
          <a:p>
            <a:endParaRPr lang="en-US" sz="4000" b="1" i="1" dirty="0"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endParaRPr lang="en-US" sz="4000" b="1" i="1" dirty="0"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endParaRPr lang="en-US" sz="4000" b="1" i="1" dirty="0"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endParaRPr lang="en-US" sz="4000" b="1" i="1" dirty="0"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endParaRPr lang="en-US" sz="4000" b="1" i="1" dirty="0"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r>
              <a:rPr lang="en-US" dirty="0"/>
              <a:t>                                 </a:t>
            </a:r>
          </a:p>
          <a:p>
            <a:endParaRPr lang="en-US" dirty="0"/>
          </a:p>
          <a:p>
            <a:r>
              <a:rPr lang="en-US" dirty="0"/>
              <a:t>                                 1. Clear Separation: Sensitive and resistant samples cluster distinctly,</a:t>
            </a:r>
          </a:p>
          <a:p>
            <a:r>
              <a:rPr lang="en-US" dirty="0"/>
              <a:t>                                     confirming real biological differences</a:t>
            </a:r>
          </a:p>
          <a:p>
            <a:r>
              <a:rPr lang="en-US" dirty="0"/>
              <a:t>                                 2. Data Quality Validated: Strong clustering proves downstream gene </a:t>
            </a:r>
          </a:p>
          <a:p>
            <a:r>
              <a:rPr lang="en-US" dirty="0"/>
              <a:t>                                     and pathway findings are trustworthy</a:t>
            </a:r>
          </a:p>
          <a:p>
            <a:endParaRPr lang="en-US" sz="4000" b="1" i="1" dirty="0"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endParaRPr lang="en-US" sz="2400" b="1" i="1" dirty="0"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8B7AC0-0F4A-2881-4AAC-E17BAEC3EF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6490" y="1164946"/>
            <a:ext cx="5781368" cy="3367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443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E86208-431F-D5BB-3220-A99B3336561A}"/>
              </a:ext>
            </a:extLst>
          </p:cNvPr>
          <p:cNvSpPr txBox="1"/>
          <p:nvPr/>
        </p:nvSpPr>
        <p:spPr>
          <a:xfrm>
            <a:off x="1827809" y="340042"/>
            <a:ext cx="10166555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Volcano Plot</a:t>
            </a:r>
          </a:p>
          <a:p>
            <a:endParaRPr lang="en-I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4B40DC-21C9-1ADA-6ED8-ADE0D99AAB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4" y="1217571"/>
            <a:ext cx="5897143" cy="4422857"/>
          </a:xfrm>
          <a:prstGeom prst="rect">
            <a:avLst/>
          </a:prstGeom>
        </p:spPr>
      </p:pic>
      <p:sp>
        <p:nvSpPr>
          <p:cNvPr id="9" name="Rectangle 4">
            <a:extLst>
              <a:ext uri="{FF2B5EF4-FFF2-40B4-BE49-F238E27FC236}">
                <a16:creationId xmlns:a16="http://schemas.microsoft.com/office/drawing/2014/main" id="{2B8E048F-D142-82AA-0D46-C03D607FFC4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000017" y="1970788"/>
            <a:ext cx="440418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/>
              <a:t>Up-regulated in Resistant (Red): </a:t>
            </a:r>
            <a:r>
              <a:rPr lang="en-US" dirty="0"/>
              <a:t>Genes with high log FC and low p-values cluster on right—drive radiotherapy resistance mechanisms.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/>
              <a:t>Down-regulated in Resistant (Blue): </a:t>
            </a:r>
            <a:r>
              <a:rPr lang="en-US" dirty="0"/>
              <a:t>Genes with low log FC and low p-values cluster on left—suppressed in resistant cells, potentially protective in sensitive cells</a:t>
            </a:r>
          </a:p>
        </p:txBody>
      </p:sp>
    </p:spTree>
    <p:extLst>
      <p:ext uri="{BB962C8B-B14F-4D97-AF65-F5344CB8AC3E}">
        <p14:creationId xmlns:p14="http://schemas.microsoft.com/office/powerpoint/2010/main" val="2655281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D18449-33D8-82E5-B214-EC6456C757AA}"/>
              </a:ext>
            </a:extLst>
          </p:cNvPr>
          <p:cNvSpPr txBox="1"/>
          <p:nvPr/>
        </p:nvSpPr>
        <p:spPr>
          <a:xfrm>
            <a:off x="162232" y="-132286"/>
            <a:ext cx="6749846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</a:p>
          <a:p>
            <a:r>
              <a:rPr lang="en-IN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Heat  Map of Top 15 Genes</a:t>
            </a:r>
          </a:p>
          <a:p>
            <a:endParaRPr lang="en-IN" sz="4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4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BD9BC74-DB00-03A6-5979-6B045F6FD6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5006" y="2261165"/>
            <a:ext cx="748234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4156FC-AC5D-7053-8EE8-4ACE269277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75393"/>
            <a:ext cx="4763463" cy="47634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4B51B4-26C0-2231-7428-C217973EF6C1}"/>
              </a:ext>
            </a:extLst>
          </p:cNvPr>
          <p:cNvSpPr txBox="1"/>
          <p:nvPr/>
        </p:nvSpPr>
        <p:spPr>
          <a:xfrm>
            <a:off x="577645" y="2030333"/>
            <a:ext cx="533891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top 15 DEGs were selected for very strong statistical evidence of differential expression (low p-values, high test statistics).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Rather than showing expression patterns by sample group, this heatmap summarizes how the top genes scored across different analytical metrics.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visualization helps you compare the statistical strength of differential expression between top-ranked genes using a color gradient.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1098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550628-735A-3BBF-FBE5-EA664ACAEC74}"/>
              </a:ext>
            </a:extLst>
          </p:cNvPr>
          <p:cNvSpPr txBox="1"/>
          <p:nvPr/>
        </p:nvSpPr>
        <p:spPr>
          <a:xfrm>
            <a:off x="585019" y="727586"/>
            <a:ext cx="1102196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            </a:t>
            </a:r>
            <a:r>
              <a:rPr lang="en-US" sz="3600" b="1" i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Differential Gene Expression Results</a:t>
            </a:r>
          </a:p>
          <a:p>
            <a:endParaRPr lang="en-US" sz="1600" b="1" i="1" dirty="0"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                                               Significant DEGs (</a:t>
            </a:r>
            <a:r>
              <a:rPr lang="en-US" b="1" dirty="0" err="1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adj.P.Val</a:t>
            </a:r>
            <a:r>
              <a:rPr lang="en-US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&lt; 0.05, |</a:t>
            </a:r>
            <a:r>
              <a:rPr lang="en-US" b="1" dirty="0" err="1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logFC</a:t>
            </a:r>
            <a:r>
              <a:rPr lang="en-US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| &gt; 1)</a:t>
            </a:r>
          </a:p>
          <a:p>
            <a:r>
              <a:rPr lang="en-US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                                                               Top 15 Significant Genes</a:t>
            </a:r>
          </a:p>
          <a:p>
            <a:endParaRPr lang="en-US" b="1" dirty="0"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endParaRPr lang="en-US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i="1" dirty="0"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2BC010F-299E-034F-EF2A-1E363966C6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424127"/>
              </p:ext>
            </p:extLst>
          </p:nvPr>
        </p:nvGraphicFramePr>
        <p:xfrm>
          <a:off x="2113936" y="2113935"/>
          <a:ext cx="7236544" cy="39132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4568">
                  <a:extLst>
                    <a:ext uri="{9D8B030D-6E8A-4147-A177-3AD203B41FA5}">
                      <a16:colId xmlns:a16="http://schemas.microsoft.com/office/drawing/2014/main" val="2185606036"/>
                    </a:ext>
                  </a:extLst>
                </a:gridCol>
                <a:gridCol w="904568">
                  <a:extLst>
                    <a:ext uri="{9D8B030D-6E8A-4147-A177-3AD203B41FA5}">
                      <a16:colId xmlns:a16="http://schemas.microsoft.com/office/drawing/2014/main" val="3464616223"/>
                    </a:ext>
                  </a:extLst>
                </a:gridCol>
                <a:gridCol w="904568">
                  <a:extLst>
                    <a:ext uri="{9D8B030D-6E8A-4147-A177-3AD203B41FA5}">
                      <a16:colId xmlns:a16="http://schemas.microsoft.com/office/drawing/2014/main" val="343198283"/>
                    </a:ext>
                  </a:extLst>
                </a:gridCol>
                <a:gridCol w="904568">
                  <a:extLst>
                    <a:ext uri="{9D8B030D-6E8A-4147-A177-3AD203B41FA5}">
                      <a16:colId xmlns:a16="http://schemas.microsoft.com/office/drawing/2014/main" val="3218081405"/>
                    </a:ext>
                  </a:extLst>
                </a:gridCol>
                <a:gridCol w="904568">
                  <a:extLst>
                    <a:ext uri="{9D8B030D-6E8A-4147-A177-3AD203B41FA5}">
                      <a16:colId xmlns:a16="http://schemas.microsoft.com/office/drawing/2014/main" val="3793611971"/>
                    </a:ext>
                  </a:extLst>
                </a:gridCol>
                <a:gridCol w="904568">
                  <a:extLst>
                    <a:ext uri="{9D8B030D-6E8A-4147-A177-3AD203B41FA5}">
                      <a16:colId xmlns:a16="http://schemas.microsoft.com/office/drawing/2014/main" val="3498215438"/>
                    </a:ext>
                  </a:extLst>
                </a:gridCol>
                <a:gridCol w="904568">
                  <a:extLst>
                    <a:ext uri="{9D8B030D-6E8A-4147-A177-3AD203B41FA5}">
                      <a16:colId xmlns:a16="http://schemas.microsoft.com/office/drawing/2014/main" val="1538203700"/>
                    </a:ext>
                  </a:extLst>
                </a:gridCol>
                <a:gridCol w="904568">
                  <a:extLst>
                    <a:ext uri="{9D8B030D-6E8A-4147-A177-3AD203B41FA5}">
                      <a16:colId xmlns:a16="http://schemas.microsoft.com/office/drawing/2014/main" val="903799652"/>
                    </a:ext>
                  </a:extLst>
                </a:gridCol>
              </a:tblGrid>
              <a:tr h="2445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Gene_ID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Gene_ID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Gene_ID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Gene_ID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P.Value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adj.P.Val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B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Expression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18013268"/>
                  </a:ext>
                </a:extLst>
              </a:tr>
              <a:tr h="2445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207878_at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-6.74933884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8.09119727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-44.7062193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1.2579E-14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2.8029E-10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20.6094273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Down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79158374"/>
                  </a:ext>
                </a:extLst>
              </a:tr>
              <a:tr h="2445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204533_at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3.21157514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9.28501481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31.3255527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8.3823E-13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9.3391E-09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18.2776359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Up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04334844"/>
                  </a:ext>
                </a:extLst>
              </a:tr>
              <a:tr h="2445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205483_s_at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3.32180821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12.0492387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29.078827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2.0111E-12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1.4938E-08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17.6928978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Up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01252748"/>
                  </a:ext>
                </a:extLst>
              </a:tr>
              <a:tr h="2445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202086_at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2.86482582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11.5769821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26.9148322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4.984E-12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2.7765E-08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17.0525141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Up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13613965"/>
                  </a:ext>
                </a:extLst>
              </a:tr>
              <a:tr h="2445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214453_s_at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3.13901516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9.67172946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24.404831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1.5675E-11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6.9857E-08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16.1970743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Up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99442541"/>
                  </a:ext>
                </a:extLst>
              </a:tr>
              <a:tr h="2445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NA.473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2.71248078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9.92393807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23.3721807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2.5968E-11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8.9167E-08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15.8044794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Up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66121895"/>
                  </a:ext>
                </a:extLst>
              </a:tr>
              <a:tr h="2445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202411_at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2.54529844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12.6582542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23.2208999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2.8011E-11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8.9167E-08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15.7447728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Up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72242548"/>
                  </a:ext>
                </a:extLst>
              </a:tr>
              <a:tr h="2445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201641_at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3.46777298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10.1582563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22.3672293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4.3341E-11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1.0863E-07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15.3967506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Up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83651477"/>
                  </a:ext>
                </a:extLst>
              </a:tr>
              <a:tr h="2445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201601_x_at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2.28881501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11.6043905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22.2298387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4.6565E-11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1.0863E-07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15.3389212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Up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01115850"/>
                  </a:ext>
                </a:extLst>
              </a:tr>
              <a:tr h="2445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214022_s_at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2.13435869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11.7868117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21.7939517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5.8632E-11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1.1877E-07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15.1519786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Up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969475"/>
                  </a:ext>
                </a:extLst>
              </a:tr>
              <a:tr h="2445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218691_s_at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-4.21858053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6.06207512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-20.794707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1.0115E-10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1.8782E-07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14.7025813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Down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09383628"/>
                  </a:ext>
                </a:extLst>
              </a:tr>
              <a:tr h="2445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204777_s_at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-3.44352873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9.04121555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-18.1018181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5.0273E-10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4.5372E-07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13.328081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Down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78750607"/>
                  </a:ext>
                </a:extLst>
              </a:tr>
              <a:tr h="2445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202409_at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-4.7210233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9.19439668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-15.5072999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2.9556E-09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1.937E-06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11.7292721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Down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57210746"/>
                  </a:ext>
                </a:extLst>
              </a:tr>
              <a:tr h="2445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207381_at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-1.76743872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9.49003311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-14.4345025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6.6651E-09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3.4539E-06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10.9713633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Down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59716416"/>
                  </a:ext>
                </a:extLst>
              </a:tr>
              <a:tr h="2445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206453_s_at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-1.33385073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10.0860051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-14.1894124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8.0874E-09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4.0047E-06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10.789123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Down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222418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2965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434822-BD4D-A3CF-0A76-2A887EF21826}"/>
              </a:ext>
            </a:extLst>
          </p:cNvPr>
          <p:cNvSpPr txBox="1"/>
          <p:nvPr/>
        </p:nvSpPr>
        <p:spPr>
          <a:xfrm>
            <a:off x="601884" y="682906"/>
            <a:ext cx="1079917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KEGG Enrichment Pathway </a:t>
            </a:r>
          </a:p>
          <a:p>
            <a:endParaRPr lang="en-IN" sz="4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D57755-7E1E-A69C-71C6-A31AB7D10F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4076" y="1739966"/>
            <a:ext cx="5772967" cy="43297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D4AFA9B-7039-DE10-1AEC-16AC4612A7B1}"/>
              </a:ext>
            </a:extLst>
          </p:cNvPr>
          <p:cNvSpPr txBox="1"/>
          <p:nvPr/>
        </p:nvSpPr>
        <p:spPr>
          <a:xfrm>
            <a:off x="601884" y="2208944"/>
            <a:ext cx="517219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Upregulated Pathways (Red): 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Immune and inflammatory response pathways (cytokine signaling, TLR pathway, DNA sensing) dominate—revealing strong immune activation in resistant samples.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Downregulated Pathways (Blue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 Metabolic pathways suppressed—indicating resistant cells redirect resources away from basic metabolism toward survival and stress response.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5988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BF48756-1AF5-72B8-EFE8-32D7408B3A92}"/>
              </a:ext>
            </a:extLst>
          </p:cNvPr>
          <p:cNvSpPr txBox="1"/>
          <p:nvPr/>
        </p:nvSpPr>
        <p:spPr>
          <a:xfrm>
            <a:off x="1215946" y="486088"/>
            <a:ext cx="888492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KEGG Pathway Enrichment  (Top Pathways)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66BE40-5BCE-2DC2-14F7-744FB97D2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1320" y="1286307"/>
            <a:ext cx="6937934" cy="52174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66B4B97-006F-7134-D3C6-15832A30042B}"/>
              </a:ext>
            </a:extLst>
          </p:cNvPr>
          <p:cNvSpPr txBox="1"/>
          <p:nvPr/>
        </p:nvSpPr>
        <p:spPr>
          <a:xfrm>
            <a:off x="268447" y="2286238"/>
            <a:ext cx="422136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KEGG pathways ranked by enrichment confidence (log2err).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Immune &amp; inflammatory pathways show strongest, most reliable enrichment.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Confirms immune activation as a key feature of radiotherapy resistance.</a:t>
            </a:r>
          </a:p>
        </p:txBody>
      </p:sp>
    </p:spTree>
    <p:extLst>
      <p:ext uri="{BB962C8B-B14F-4D97-AF65-F5344CB8AC3E}">
        <p14:creationId xmlns:p14="http://schemas.microsoft.com/office/powerpoint/2010/main" val="2413896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D3DC402-D551-D3D0-AFDE-AE85EEEEEA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8644" y="1150374"/>
            <a:ext cx="5313566" cy="3985174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769D3419-3F47-A852-2F55-5055015A3A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358" y="1569098"/>
            <a:ext cx="184731" cy="9233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500B9F59-0A75-D947-4B28-4DA8732907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0207" y="2047418"/>
            <a:ext cx="4857135" cy="313932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KEGG_HOMOLOGOUS_RECOMBINATION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KEGG_B_CELL_RECEPTOR_SIGNALING_PATHWAY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KEGG_BIOSYNTHESIS_OF_UNSATURATED_F   ATTY_ACIDS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KEGG_NITROGEN_METABOLISM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KEGG_BASE_EXCISION_REPAIR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KEGG_ACUTE_MYELOID_LEUKEMIA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KEGG_CYSTEINE_AND_METHIONINE_METABOLISM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KEGG_SELENOAMINO_ACID_METABOLISM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KEGG_PANCREATIC_CANCER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KEGG_SMALL_CELL_LUNG_CANCER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KEGG_FC_GAMMA_R_MEDIATED_PHAGOCYTOSIS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KEGG_ETHER_LIPID_METABOLISM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KEGG_PRIMARY_IMMUNODEFICIENCY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KEGG_RENAL_CELL_CARCINOMA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KEGG_BETA_ALANINE_METABOLISM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E4073F-A5AC-D0E1-A14E-43331230C85F}"/>
              </a:ext>
            </a:extLst>
          </p:cNvPr>
          <p:cNvSpPr txBox="1"/>
          <p:nvPr/>
        </p:nvSpPr>
        <p:spPr>
          <a:xfrm>
            <a:off x="609600" y="766916"/>
            <a:ext cx="55748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Significant  KEGG Pathways</a:t>
            </a:r>
          </a:p>
        </p:txBody>
      </p:sp>
    </p:spTree>
    <p:extLst>
      <p:ext uri="{BB962C8B-B14F-4D97-AF65-F5344CB8AC3E}">
        <p14:creationId xmlns:p14="http://schemas.microsoft.com/office/powerpoint/2010/main" val="2571904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8AE228-1370-BC34-894B-9EE26F4FA1D3}"/>
              </a:ext>
            </a:extLst>
          </p:cNvPr>
          <p:cNvSpPr txBox="1"/>
          <p:nvPr/>
        </p:nvSpPr>
        <p:spPr>
          <a:xfrm>
            <a:off x="472440" y="2136338"/>
            <a:ext cx="498856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Upregulated Pathways (Red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 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Interferon signaling dominates alpha/beta interferon, IFN-stimulated gene responses, and immune modulation pathways strongly activated in resistant samples.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Downregulated Pathways (Blue): 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Epigenetic and metabolic pathways suppressed histone modifications, gene expression regulation, and steroid biosynthesis reduced, indicating metabolic reprogramming in resistance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326CA5-D1F0-66B6-8872-47985E0365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5080" y="1558289"/>
            <a:ext cx="4988560" cy="37414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8A31CD-662D-DAC0-F61A-7E9953B07AE4}"/>
              </a:ext>
            </a:extLst>
          </p:cNvPr>
          <p:cNvSpPr txBox="1"/>
          <p:nvPr/>
        </p:nvSpPr>
        <p:spPr>
          <a:xfrm>
            <a:off x="1742668" y="349321"/>
            <a:ext cx="78638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Reactome Enrichment Pathway (Bar Plot</a:t>
            </a:r>
            <a:r>
              <a:rPr lang="en-IN" b="1" i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173250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D9F656D-70C9-AE2C-FE42-C552B7D84C11}"/>
              </a:ext>
            </a:extLst>
          </p:cNvPr>
          <p:cNvSpPr txBox="1"/>
          <p:nvPr/>
        </p:nvSpPr>
        <p:spPr>
          <a:xfrm>
            <a:off x="792480" y="2194560"/>
            <a:ext cx="530352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nterferon Signaling Dominates (Top): 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Alpha/beta interferon and modulation of IFN-stimulated responses show strongest enrichment—confirming immune activation as central mechanism in radiotherapy resistance.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Epigenetic &amp; Differentiation Pathways: 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 expression regulation, chromatin modifications, and cell differentiation pathways show lower but consistent enrichment—indicating reprogramming in resistant phenotype.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E916B4-BF31-975A-739A-66944CEB9514}"/>
              </a:ext>
            </a:extLst>
          </p:cNvPr>
          <p:cNvSpPr txBox="1"/>
          <p:nvPr/>
        </p:nvSpPr>
        <p:spPr>
          <a:xfrm>
            <a:off x="2148840" y="731520"/>
            <a:ext cx="70866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Reactome Pathway Enrichment (Top Pathways)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190633-CE22-2FF8-5B40-861542ED81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0160" y="1943037"/>
            <a:ext cx="4856487" cy="3642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924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E715B5-ECE4-5868-7FBA-4C5B14D642CE}"/>
              </a:ext>
            </a:extLst>
          </p:cNvPr>
          <p:cNvSpPr txBox="1"/>
          <p:nvPr/>
        </p:nvSpPr>
        <p:spPr>
          <a:xfrm>
            <a:off x="629265" y="776748"/>
            <a:ext cx="1078598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i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Most Significant Reactome Pathway</a:t>
            </a:r>
          </a:p>
          <a:p>
            <a:endParaRPr lang="en-US" sz="4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F54E8E-06C9-F531-6E55-357A9EA4CD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2120" y="1966452"/>
            <a:ext cx="5486400" cy="4114800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5C5153F0-B7EE-00C4-88FF-D7764DF72A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1816" y="327539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634666-5F52-D171-F5BE-DF6E45A69FE9}"/>
              </a:ext>
            </a:extLst>
          </p:cNvPr>
          <p:cNvSpPr txBox="1"/>
          <p:nvPr/>
        </p:nvSpPr>
        <p:spPr>
          <a:xfrm>
            <a:off x="215758" y="1966452"/>
            <a:ext cx="5178175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REACTOME_CELL_CYCLE_MITOTIC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REACTOME_ABERRANT_REGULATION_OF_MITOTIC_EXIT_IN_CANCER_DUE_TO_RB1_DEFECTS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REACTOME_RHOJ_GTPASE_CYCLE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REACTOME_PI3K_AKT_SIGNALING_IN_CANCER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REACTOME_REGULATION_OF_TP53_ACTIVITY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REACTOME_CD28_DEPENDENT_PI3K_AKT_SIGNALING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REACTOME_SCAVENGING_BY_CLASS_A_RECEPTORS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REACTOME_DISEASES_OF_CARBOHYDRATE_METABOLISM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REACTOME_SLC_MEDIATED_TRANSMEMBRANE_TRANSPORT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REACTOME_SIGNALING_BY_CYTOSOLIC_FGFR1_FUSION_MUTANTS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REACTOME_TRAF6_MEDIATED_NF_KB_ACTIVATION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REACTOME_EPH_EPHRIN_SIGNALING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REACTOME_MITOTIC_G2_G2_M_PHASES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REACTOME_RHOBTB_GTPASE_CYCLE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REACTOME_INTERLEUKIN_RECEPTOR_SHC_SIGNALING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45250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0B6BD5-FDB8-BEB9-B8D0-16861E6BF78E}"/>
              </a:ext>
            </a:extLst>
          </p:cNvPr>
          <p:cNvSpPr txBox="1"/>
          <p:nvPr/>
        </p:nvSpPr>
        <p:spPr>
          <a:xfrm>
            <a:off x="-1245654" y="1336884"/>
            <a:ext cx="1271989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6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6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6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B2CF64-3EB8-59D6-1598-C55577DA6AC6}"/>
              </a:ext>
            </a:extLst>
          </p:cNvPr>
          <p:cNvSpPr txBox="1"/>
          <p:nvPr/>
        </p:nvSpPr>
        <p:spPr>
          <a:xfrm>
            <a:off x="2271252" y="2631996"/>
            <a:ext cx="723654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dirty="0">
                <a:latin typeface="Tempus Sans ITC" panose="04020404030D07020202" pitchFamily="82" charset="0"/>
                <a:cs typeface="Times New Roman" panose="02020603050405020304" pitchFamily="18" charset="0"/>
              </a:rPr>
              <a:t>    </a:t>
            </a:r>
            <a:r>
              <a:rPr lang="en-IN" sz="8800" b="1" i="1" dirty="0">
                <a:latin typeface="Tempus Sans ITC" panose="04020404030D07020202" pitchFamily="82" charset="0"/>
                <a:cs typeface="Times New Roman" panose="02020603050405020304" pitchFamily="18" charset="0"/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1524128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1000</TotalTime>
  <Words>982</Words>
  <Application>Microsoft Office PowerPoint</Application>
  <PresentationFormat>Widescreen</PresentationFormat>
  <Paragraphs>240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Tempus Sans ITC</vt:lpstr>
      <vt:lpstr>Times New Roman</vt:lpstr>
      <vt:lpstr>Office Theme</vt:lpstr>
      <vt:lpstr>Group Number 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Asha Avanigadda</dc:creator>
  <cp:lastModifiedBy>Prithvi A.J</cp:lastModifiedBy>
  <cp:revision>9</cp:revision>
  <dcterms:created xsi:type="dcterms:W3CDTF">2025-11-22T23:35:34Z</dcterms:created>
  <dcterms:modified xsi:type="dcterms:W3CDTF">2025-11-23T23:23:06Z</dcterms:modified>
</cp:coreProperties>
</file>